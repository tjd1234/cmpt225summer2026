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6983"/>
  </p:normalViewPr>
  <p:slideViewPr>
    <p:cSldViewPr snapToGrid="0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CMPT 225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D100 Surrey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covers introduces fundamental data structures, algorithms, and programming techniques used in most other CS</a:t>
            </a:r>
          </a:p>
          <a:p>
            <a:r>
              <a:rPr lang="en-US" dirty="0"/>
              <a:t>It includes programming, and some math, e.g. O-notation</a:t>
            </a:r>
          </a:p>
          <a:p>
            <a:r>
              <a:rPr lang="en-US" dirty="0"/>
              <a:t>Take a look at the course site to see the list of topics we plan to cover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8DEA-F084-80EB-E9BF-E246AED6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A91B-1AF2-5860-51B3-0F961377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semester there are 5 in-class 30-minute closed-book quizzes about the most recent course topics.</a:t>
            </a:r>
          </a:p>
          <a:p>
            <a:pPr lvl="1"/>
            <a:r>
              <a:rPr lang="en-US" dirty="0"/>
              <a:t>You must do these in-person.</a:t>
            </a:r>
          </a:p>
          <a:p>
            <a:pPr lvl="1"/>
            <a:r>
              <a:rPr lang="en-US" dirty="0"/>
              <a:t>If you miss one for </a:t>
            </a:r>
            <a:r>
              <a:rPr lang="en-US" b="1" dirty="0"/>
              <a:t>any reason</a:t>
            </a:r>
            <a:r>
              <a:rPr lang="en-US" dirty="0"/>
              <a:t>, your %-score on the final exam will replace the %-score of the missed quiz.</a:t>
            </a:r>
          </a:p>
          <a:p>
            <a:pPr lvl="1"/>
            <a:r>
              <a:rPr lang="en-US" dirty="0"/>
              <a:t>Similarly, if your %-score on the final is higher than a %-score on a quiz, we’ll replace that quiz with the final %-score.</a:t>
            </a:r>
          </a:p>
          <a:p>
            <a:r>
              <a:rPr lang="en-US" dirty="0"/>
              <a:t>The final exam is 3 hours and covers the entire course</a:t>
            </a:r>
          </a:p>
          <a:p>
            <a:pPr lvl="1"/>
            <a:r>
              <a:rPr lang="en-US" dirty="0"/>
              <a:t>It will be similar in style to the quizzes, just longer</a:t>
            </a:r>
          </a:p>
        </p:txBody>
      </p:sp>
    </p:spTree>
    <p:extLst>
      <p:ext uri="{BB962C8B-B14F-4D97-AF65-F5344CB8AC3E}">
        <p14:creationId xmlns:p14="http://schemas.microsoft.com/office/powerpoint/2010/main" val="228523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3AA8-5131-DE9F-1359-60C1298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FEA7-1D34-8F7B-AA26-9DACC9D2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8ED-BB18-52BE-8612-9CB7157D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also weekly labs</a:t>
            </a:r>
          </a:p>
          <a:p>
            <a:pPr lvl="1"/>
            <a:r>
              <a:rPr lang="en-US" dirty="0"/>
              <a:t>1 mark each for making an honest effort (in the opinion of the TA) to participate</a:t>
            </a:r>
          </a:p>
          <a:p>
            <a:pPr lvl="1"/>
            <a:r>
              <a:rPr lang="en-US" dirty="0"/>
              <a:t>Your two lowest-scoring lab scores will be dropped (e.g. it’s okay if you miss two labs)</a:t>
            </a:r>
          </a:p>
          <a:p>
            <a:r>
              <a:rPr lang="en-US" dirty="0"/>
              <a:t>There are no assignments or projects worth any marks</a:t>
            </a:r>
          </a:p>
          <a:p>
            <a:pPr lvl="1"/>
            <a:r>
              <a:rPr lang="en-US" dirty="0"/>
              <a:t>But we will publish problem sets</a:t>
            </a:r>
          </a:p>
          <a:p>
            <a:pPr lvl="1"/>
            <a:r>
              <a:rPr lang="en-US" dirty="0"/>
              <a:t>If you </a:t>
            </a:r>
            <a:r>
              <a:rPr lang="en-US" b="1" dirty="0"/>
              <a:t>don’t</a:t>
            </a:r>
            <a:r>
              <a:rPr lang="en-US" dirty="0"/>
              <a:t> do the problem sets, you’ll probably fail the quizzes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3630-C11A-B79D-B4D2-99CA8CAD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B77-0FD8-D56A-EE91-0F618FDA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you know basic C++ programming (as from CMPT 125)</a:t>
            </a:r>
          </a:p>
          <a:p>
            <a:r>
              <a:rPr lang="en-US" dirty="0"/>
              <a:t>If you haven’t already, you should get C++ running on your computer</a:t>
            </a:r>
          </a:p>
          <a:p>
            <a:r>
              <a:rPr lang="en-US" dirty="0"/>
              <a:t>Pointers, new, delete, struct are going to be important!</a:t>
            </a:r>
          </a:p>
          <a:p>
            <a:r>
              <a:rPr lang="en-US" dirty="0"/>
              <a:t>We will also use some object-oriented programming (OOP) for making “collections”</a:t>
            </a:r>
          </a:p>
        </p:txBody>
      </p:sp>
    </p:spTree>
    <p:extLst>
      <p:ext uri="{BB962C8B-B14F-4D97-AF65-F5344CB8AC3E}">
        <p14:creationId xmlns:p14="http://schemas.microsoft.com/office/powerpoint/2010/main" val="337869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70BD-AE81-81F6-C0DC-694719B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F1AE2-6D2C-3905-10B5-9021607A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331"/>
            <a:ext cx="10515600" cy="2203269"/>
          </a:xfrm>
        </p:spPr>
        <p:txBody>
          <a:bodyPr>
            <a:normAutofit/>
          </a:bodyPr>
          <a:lstStyle/>
          <a:p>
            <a:r>
              <a:rPr lang="en-US" dirty="0"/>
              <a:t>Arrays in C++ are quite low-level</a:t>
            </a:r>
          </a:p>
          <a:p>
            <a:r>
              <a:rPr lang="en-US" dirty="0"/>
              <a:t>They are contiguous sequences of bytes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[100]; // an array of 100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761AC6-C414-908F-BF2E-D6854EC16CAD}"/>
              </a:ext>
            </a:extLst>
          </p:cNvPr>
          <p:cNvGrpSpPr/>
          <p:nvPr/>
        </p:nvGrpSpPr>
        <p:grpSpPr>
          <a:xfrm>
            <a:off x="3414030" y="4362085"/>
            <a:ext cx="3587661" cy="769442"/>
            <a:chOff x="2508339" y="4314045"/>
            <a:chExt cx="3587661" cy="769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BC8AF0-93F0-E4AB-3513-208093AD93E3}"/>
                </a:ext>
              </a:extLst>
            </p:cNvPr>
            <p:cNvGrpSpPr/>
            <p:nvPr/>
          </p:nvGrpSpPr>
          <p:grpSpPr>
            <a:xfrm>
              <a:off x="2508339" y="4314045"/>
              <a:ext cx="539145" cy="769442"/>
              <a:chOff x="1228179" y="4035371"/>
              <a:chExt cx="539145" cy="76944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F1CC-745C-501A-43AD-64C349DD4411}"/>
                  </a:ext>
                </a:extLst>
              </p:cNvPr>
              <p:cNvSpPr txBox="1"/>
              <p:nvPr/>
            </p:nvSpPr>
            <p:spPr>
              <a:xfrm>
                <a:off x="1265265" y="4343148"/>
                <a:ext cx="453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-4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A0CBAF-A0BF-7062-4EC6-7E0750C20DAA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D97DBC-6070-E275-A573-39465EEEFE6B}"/>
                </a:ext>
              </a:extLst>
            </p:cNvPr>
            <p:cNvGrpSpPr/>
            <p:nvPr/>
          </p:nvGrpSpPr>
          <p:grpSpPr>
            <a:xfrm>
              <a:off x="3053025" y="4314045"/>
              <a:ext cx="539145" cy="769442"/>
              <a:chOff x="1228179" y="4035371"/>
              <a:chExt cx="539145" cy="7694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512C9D-B51D-9790-54E0-AA4F9E00F2EA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D25C75-5C09-CED1-DA8B-4713E487CDD0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342FEE-00D9-4C65-0537-2A604CCBB024}"/>
                </a:ext>
              </a:extLst>
            </p:cNvPr>
            <p:cNvGrpSpPr/>
            <p:nvPr/>
          </p:nvGrpSpPr>
          <p:grpSpPr>
            <a:xfrm>
              <a:off x="3634795" y="4314045"/>
              <a:ext cx="539145" cy="769442"/>
              <a:chOff x="1228179" y="4035371"/>
              <a:chExt cx="539145" cy="76944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B3DE57-A587-1AD4-910B-AE563F333F40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F4FB25-A15C-2A7E-CBCD-52DD3368BB5B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0D5316-C1E0-6D93-0AEE-A5C340BA5928}"/>
                </a:ext>
              </a:extLst>
            </p:cNvPr>
            <p:cNvGrpSpPr/>
            <p:nvPr/>
          </p:nvGrpSpPr>
          <p:grpSpPr>
            <a:xfrm>
              <a:off x="4951479" y="4314045"/>
              <a:ext cx="539145" cy="769442"/>
              <a:chOff x="1228179" y="4035371"/>
              <a:chExt cx="539145" cy="76944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702933-F858-1D91-9F94-10AAF8455E8E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26C235-4FB6-F80D-A6D8-AEC974F6CF29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98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0FDA4A-D2FC-E653-53F7-B0275A66346E}"/>
                </a:ext>
              </a:extLst>
            </p:cNvPr>
            <p:cNvGrpSpPr/>
            <p:nvPr/>
          </p:nvGrpSpPr>
          <p:grpSpPr>
            <a:xfrm>
              <a:off x="5556855" y="4314045"/>
              <a:ext cx="539145" cy="769442"/>
              <a:chOff x="1228179" y="4035371"/>
              <a:chExt cx="539145" cy="76944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344972-247A-9CA2-BD5D-5FA689E270B8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80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43FACE-14C4-666D-200F-99C0F5247A01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99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63483D-4434-D09C-D1D4-9E7A14D73560}"/>
                </a:ext>
              </a:extLst>
            </p:cNvPr>
            <p:cNvSpPr txBox="1"/>
            <p:nvPr/>
          </p:nvSpPr>
          <p:spPr>
            <a:xfrm>
              <a:off x="4352077" y="4621822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D2F8D7-801D-3C5A-10CB-DD1D59A6723F}"/>
              </a:ext>
            </a:extLst>
          </p:cNvPr>
          <p:cNvSpPr txBox="1"/>
          <p:nvPr/>
        </p:nvSpPr>
        <p:spPr>
          <a:xfrm>
            <a:off x="642452" y="3953776"/>
            <a:ext cx="18256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arrays </a:t>
            </a:r>
            <a:r>
              <a:rPr lang="en-US" b="1" dirty="0"/>
              <a:t>always</a:t>
            </a:r>
            <a:r>
              <a:rPr lang="en-US" dirty="0"/>
              <a:t> start at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21983E-02CB-B987-C537-15A0024C9426}"/>
              </a:ext>
            </a:extLst>
          </p:cNvPr>
          <p:cNvSpPr txBox="1"/>
          <p:nvPr/>
        </p:nvSpPr>
        <p:spPr>
          <a:xfrm>
            <a:off x="7816061" y="3654199"/>
            <a:ext cx="182564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index of an N element array is always N-1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C66FBF-2C07-DDF1-AD6D-9E848B5EE777}"/>
              </a:ext>
            </a:extLst>
          </p:cNvPr>
          <p:cNvCxnSpPr>
            <a:stCxn id="21" idx="3"/>
          </p:cNvCxnSpPr>
          <p:nvPr/>
        </p:nvCxnSpPr>
        <p:spPr>
          <a:xfrm>
            <a:off x="2468094" y="4276942"/>
            <a:ext cx="1067586" cy="17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D30049-681A-4527-55B1-256A7C96989D}"/>
              </a:ext>
            </a:extLst>
          </p:cNvPr>
          <p:cNvCxnSpPr>
            <a:cxnSpLocks/>
            <a:stCxn id="22" idx="1"/>
            <a:endCxn id="18" idx="3"/>
          </p:cNvCxnSpPr>
          <p:nvPr/>
        </p:nvCxnSpPr>
        <p:spPr>
          <a:xfrm flipH="1">
            <a:off x="7001691" y="4254364"/>
            <a:ext cx="814370" cy="26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C882F5DF-6A75-F535-85B0-6CBC2C49EF5A}"/>
              </a:ext>
            </a:extLst>
          </p:cNvPr>
          <p:cNvSpPr/>
          <p:nvPr/>
        </p:nvSpPr>
        <p:spPr>
          <a:xfrm rot="16200000">
            <a:off x="5077265" y="3730319"/>
            <a:ext cx="307776" cy="354108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E46325-7627-0281-9BEC-10D90A49C163}"/>
              </a:ext>
            </a:extLst>
          </p:cNvPr>
          <p:cNvSpPr txBox="1"/>
          <p:nvPr/>
        </p:nvSpPr>
        <p:spPr>
          <a:xfrm>
            <a:off x="2926661" y="5816285"/>
            <a:ext cx="460898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size in bytes of an array of N elements is </a:t>
            </a:r>
            <a:br>
              <a:rPr lang="en-US" dirty="0"/>
            </a:br>
            <a:r>
              <a:rPr lang="en-US" dirty="0"/>
              <a:t>N * </a:t>
            </a:r>
            <a:r>
              <a:rPr lang="en-US" dirty="0" err="1"/>
              <a:t>sizeof</a:t>
            </a:r>
            <a:r>
              <a:rPr lang="en-US" dirty="0"/>
              <a:t>(int)</a:t>
            </a:r>
          </a:p>
        </p:txBody>
      </p:sp>
    </p:spTree>
    <p:extLst>
      <p:ext uri="{BB962C8B-B14F-4D97-AF65-F5344CB8AC3E}">
        <p14:creationId xmlns:p14="http://schemas.microsoft.com/office/powerpoint/2010/main" val="307970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A112-204B-A4ED-4D3E-5EA0470A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AC58-6B86-E6C1-1F5F-50A0CB10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F367-361D-4032-CD88-9BB434A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331"/>
            <a:ext cx="10515600" cy="2203269"/>
          </a:xfrm>
        </p:spPr>
        <p:txBody>
          <a:bodyPr>
            <a:normAutofit/>
          </a:bodyPr>
          <a:lstStyle/>
          <a:p>
            <a:r>
              <a:rPr lang="en-US" dirty="0"/>
              <a:t>Arrays in C++ are quite low-level</a:t>
            </a:r>
          </a:p>
          <a:p>
            <a:r>
              <a:rPr lang="en-US" dirty="0"/>
              <a:t>They are contiguous sequences of bytes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[100]; // an array of 100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AFC81-8555-79B4-6FAD-5BE54BCE3BB2}"/>
              </a:ext>
            </a:extLst>
          </p:cNvPr>
          <p:cNvGrpSpPr/>
          <p:nvPr/>
        </p:nvGrpSpPr>
        <p:grpSpPr>
          <a:xfrm>
            <a:off x="3414030" y="4362085"/>
            <a:ext cx="3587661" cy="769442"/>
            <a:chOff x="2508339" y="4314045"/>
            <a:chExt cx="3587661" cy="769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2C014FA-9803-7FC1-C48E-1B53E7CA04B9}"/>
                </a:ext>
              </a:extLst>
            </p:cNvPr>
            <p:cNvGrpSpPr/>
            <p:nvPr/>
          </p:nvGrpSpPr>
          <p:grpSpPr>
            <a:xfrm>
              <a:off x="2508339" y="4314045"/>
              <a:ext cx="539145" cy="769442"/>
              <a:chOff x="1228179" y="4035371"/>
              <a:chExt cx="539145" cy="76944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A4A22B-6E44-E004-188D-4E2E3BB32B79}"/>
                  </a:ext>
                </a:extLst>
              </p:cNvPr>
              <p:cNvSpPr txBox="1"/>
              <p:nvPr/>
            </p:nvSpPr>
            <p:spPr>
              <a:xfrm>
                <a:off x="1265265" y="4343148"/>
                <a:ext cx="453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-4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40C523-4957-C62B-8D78-29D3EED9CF4E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D532BA-7742-423C-0F8F-56C24AF97D26}"/>
                </a:ext>
              </a:extLst>
            </p:cNvPr>
            <p:cNvGrpSpPr/>
            <p:nvPr/>
          </p:nvGrpSpPr>
          <p:grpSpPr>
            <a:xfrm>
              <a:off x="3053025" y="4314045"/>
              <a:ext cx="539145" cy="769442"/>
              <a:chOff x="1228179" y="4035371"/>
              <a:chExt cx="539145" cy="7694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1C2419-08C0-F04F-0869-AE8F2B3C7F82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38FABA-59E9-586C-2CE3-9DC28F6ED7F0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EB7E62-54DA-7C2A-07B2-7EC40CD90A41}"/>
                </a:ext>
              </a:extLst>
            </p:cNvPr>
            <p:cNvGrpSpPr/>
            <p:nvPr/>
          </p:nvGrpSpPr>
          <p:grpSpPr>
            <a:xfrm>
              <a:off x="3634795" y="4314045"/>
              <a:ext cx="539145" cy="769442"/>
              <a:chOff x="1228179" y="4035371"/>
              <a:chExt cx="539145" cy="76944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046C3-1D36-5A3B-48B9-9CC5D3768CA3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7FDAAD-668F-9D88-CBE8-6CE90DD5EA15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1FDFE81-DC9D-FCFD-8E00-05E097B65F1B}"/>
                </a:ext>
              </a:extLst>
            </p:cNvPr>
            <p:cNvGrpSpPr/>
            <p:nvPr/>
          </p:nvGrpSpPr>
          <p:grpSpPr>
            <a:xfrm>
              <a:off x="4951479" y="4314045"/>
              <a:ext cx="539145" cy="769442"/>
              <a:chOff x="1228179" y="4035371"/>
              <a:chExt cx="539145" cy="76944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1DF76F-77A9-1160-3857-26DBECAD1AA4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D320B7-AF8A-B07A-13D4-693398A1DF36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98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C2828F-6928-83D1-F46B-FC8D4EDC829F}"/>
                </a:ext>
              </a:extLst>
            </p:cNvPr>
            <p:cNvGrpSpPr/>
            <p:nvPr/>
          </p:nvGrpSpPr>
          <p:grpSpPr>
            <a:xfrm>
              <a:off x="5556855" y="4314045"/>
              <a:ext cx="539145" cy="769442"/>
              <a:chOff x="1228179" y="4035371"/>
              <a:chExt cx="539145" cy="76944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04E835-3EB7-9E91-CD9B-A9485BFD6056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80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5BFC28-E353-6AA0-FC93-4B1544F0CE95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99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040EB5-7CC3-17CC-83EE-20722DE22C33}"/>
                </a:ext>
              </a:extLst>
            </p:cNvPr>
            <p:cNvSpPr txBox="1"/>
            <p:nvPr/>
          </p:nvSpPr>
          <p:spPr>
            <a:xfrm>
              <a:off x="4352077" y="4621822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4E34044-03C0-A5D0-C501-FF4AEB107058}"/>
              </a:ext>
            </a:extLst>
          </p:cNvPr>
          <p:cNvSpPr txBox="1"/>
          <p:nvPr/>
        </p:nvSpPr>
        <p:spPr>
          <a:xfrm>
            <a:off x="7498081" y="3931198"/>
            <a:ext cx="18309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[0] == -4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[1] == 17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[98] == 15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[99] == 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F6402-EF69-917A-FF0E-4CA1681C2D35}"/>
              </a:ext>
            </a:extLst>
          </p:cNvPr>
          <p:cNvSpPr txBox="1"/>
          <p:nvPr/>
        </p:nvSpPr>
        <p:spPr>
          <a:xfrm>
            <a:off x="9740538" y="3931198"/>
            <a:ext cx="23374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+ 0) == -4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+ 1) == 17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+ 98) == 15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+ 99) == 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A3311-C8A5-1B45-B78E-568A44C13804}"/>
              </a:ext>
            </a:extLst>
          </p:cNvPr>
          <p:cNvSpPr txBox="1"/>
          <p:nvPr/>
        </p:nvSpPr>
        <p:spPr>
          <a:xfrm>
            <a:off x="8146245" y="1823848"/>
            <a:ext cx="182564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an access array elements using []-bracket notation 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2D80EA-9F46-9C91-553B-88E10A678BB9}"/>
              </a:ext>
            </a:extLst>
          </p:cNvPr>
          <p:cNvCxnSpPr>
            <a:cxnSpLocks/>
            <a:stCxn id="27" idx="2"/>
            <a:endCxn id="23" idx="0"/>
          </p:cNvCxnSpPr>
          <p:nvPr/>
        </p:nvCxnSpPr>
        <p:spPr>
          <a:xfrm flipH="1">
            <a:off x="8413556" y="3024177"/>
            <a:ext cx="645510" cy="907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12ECBC-F9B0-BB61-CFFC-E32A5F7F5F05}"/>
              </a:ext>
            </a:extLst>
          </p:cNvPr>
          <p:cNvSpPr txBox="1"/>
          <p:nvPr/>
        </p:nvSpPr>
        <p:spPr>
          <a:xfrm>
            <a:off x="10252395" y="1962347"/>
            <a:ext cx="18256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or (in C++) using pointer notation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132102-B66A-528F-6D54-8597952D1A74}"/>
              </a:ext>
            </a:extLst>
          </p:cNvPr>
          <p:cNvCxnSpPr>
            <a:cxnSpLocks/>
            <a:stCxn id="38" idx="2"/>
            <a:endCxn id="26" idx="0"/>
          </p:cNvCxnSpPr>
          <p:nvPr/>
        </p:nvCxnSpPr>
        <p:spPr>
          <a:xfrm flipH="1">
            <a:off x="10909288" y="2885677"/>
            <a:ext cx="255928" cy="1045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94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52BE-9C44-CAE6-39F2-08488485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C6F0-E200-26A4-561A-085935CD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problem 1 in the notes …</a:t>
            </a:r>
          </a:p>
        </p:txBody>
      </p:sp>
    </p:spTree>
    <p:extLst>
      <p:ext uri="{BB962C8B-B14F-4D97-AF65-F5344CB8AC3E}">
        <p14:creationId xmlns:p14="http://schemas.microsoft.com/office/powerpoint/2010/main" val="172507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487</Words>
  <Application>Microsoft Macintosh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CMPT 225</vt:lpstr>
      <vt:lpstr>Introduction</vt:lpstr>
      <vt:lpstr>Marking</vt:lpstr>
      <vt:lpstr>Marking</vt:lpstr>
      <vt:lpstr>C++</vt:lpstr>
      <vt:lpstr>Arrays</vt:lpstr>
      <vt:lpstr>Arrays</vt:lpstr>
      <vt:lpstr>Practice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2026-05-12T03:56:54Z</dcterms:modified>
</cp:coreProperties>
</file>